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9"/>
    <p:restoredTop sz="94638"/>
  </p:normalViewPr>
  <p:slideViewPr>
    <p:cSldViewPr snapToGrid="0">
      <p:cViewPr varScale="1">
        <p:scale>
          <a:sx n="113" d="100"/>
          <a:sy n="113" d="100"/>
        </p:scale>
        <p:origin x="3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Product Profitability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Profitable</c:v>
                </c:pt>
                <c:pt idx="1">
                  <c:v>Loss-making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929</c:v>
                </c:pt>
                <c:pt idx="1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65-5947-B251-2289C87658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Profitable</c:v>
                </c:pt>
                <c:pt idx="1">
                  <c:v>Loss-making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9965-5947-B251-2289C87658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2"/>
                <c:pt idx="0">
                  <c:v>Profitable</c:v>
                </c:pt>
                <c:pt idx="1">
                  <c:v>Loss-making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9965-5947-B251-2289C8765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83986240"/>
        <c:axId val="1583981760"/>
      </c:barChart>
      <c:catAx>
        <c:axId val="158398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3981760"/>
        <c:crosses val="autoZero"/>
        <c:auto val="1"/>
        <c:lblAlgn val="ctr"/>
        <c:lblOffset val="100"/>
        <c:noMultiLvlLbl val="0"/>
      </c:catAx>
      <c:valAx>
        <c:axId val="1583981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3986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0158B-85D2-8245-98E4-BB53332440C4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CCE9-1C24-1642-AD4F-C375543E59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47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CCE9-1C24-1642-AD4F-C375543E59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5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CCE9-1C24-1642-AD4F-C375543E59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77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CCE9-1C24-1642-AD4F-C375543E59E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44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79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2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09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456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0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6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4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7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69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7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85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10/13/26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82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3885EB-3C14-F1B7-6C3B-CA350B0A4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74" y="1186705"/>
            <a:ext cx="10495904" cy="139587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Marketplace Revenue Leakage &amp; Profitability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7EF9E-E17C-A722-B21D-B565EB204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74" y="2796595"/>
            <a:ext cx="10495898" cy="1643320"/>
          </a:xfrm>
        </p:spPr>
        <p:txBody>
          <a:bodyPr>
            <a:normAutofit/>
          </a:bodyPr>
          <a:lstStyle/>
          <a:p>
            <a:r>
              <a:rPr lang="en-US" b="1" dirty="0"/>
              <a:t>SQL-based analysis of profitability, discounts, returns, logistics costs and payment fees</a:t>
            </a:r>
            <a:endParaRPr lang="en-US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E6588-D416-4915-E8F9-9687B5296AD4}"/>
              </a:ext>
            </a:extLst>
          </p:cNvPr>
          <p:cNvSpPr txBox="1"/>
          <p:nvPr/>
        </p:nvSpPr>
        <p:spPr>
          <a:xfrm>
            <a:off x="700838" y="5683692"/>
            <a:ext cx="10926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Vishnu Narayanan Girishbabu</a:t>
            </a:r>
            <a:br>
              <a:rPr lang="en-US" dirty="0"/>
            </a:br>
            <a:r>
              <a:rPr lang="en-US" dirty="0"/>
              <a:t>Business &amp; Data Analytics Portfolio Project			</a:t>
            </a:r>
            <a:r>
              <a:rPr lang="en-US" b="1" dirty="0"/>
              <a:t>MySQL | Data Analysis | Business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46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CC94-F331-4E2C-EC09-B0B4409B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027289"/>
          </a:xfrm>
        </p:spPr>
        <p:txBody>
          <a:bodyPr/>
          <a:lstStyle/>
          <a:p>
            <a:r>
              <a:rPr lang="en-US" dirty="0"/>
              <a:t>Business 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B208-B246-A095-A6B5-687DCFCC5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833876"/>
            <a:ext cx="5608121" cy="341834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Business Problem</a:t>
            </a:r>
            <a:endParaRPr lang="en-US" dirty="0"/>
          </a:p>
          <a:p>
            <a:r>
              <a:rPr lang="en-US" dirty="0"/>
              <a:t>High marketplace sales do not necessarily translate into strong retained profitability. Discounts, product returns, fulfilment costs and payment processing fees can gradually erode margins even when topline revenue remains healthy.</a:t>
            </a:r>
          </a:p>
          <a:p>
            <a:pPr marL="0" indent="0">
              <a:buNone/>
            </a:pPr>
            <a:r>
              <a:rPr lang="en-US" b="1" dirty="0"/>
              <a:t>Core Question</a:t>
            </a:r>
            <a:endParaRPr lang="en-US" dirty="0"/>
          </a:p>
          <a:p>
            <a:r>
              <a:rPr lang="en-US" dirty="0"/>
              <a:t>Where is the marketplace losing revenue and profit, what is driving those losses, and where should management focus its attention?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EC14E-D8C1-7949-AF0D-3D913FBB0D51}"/>
              </a:ext>
            </a:extLst>
          </p:cNvPr>
          <p:cNvSpPr txBox="1"/>
          <p:nvPr/>
        </p:nvSpPr>
        <p:spPr>
          <a:xfrm>
            <a:off x="6637868" y="1833876"/>
            <a:ext cx="50348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Analysis Objectives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Evaluate overall sales, costs and profitability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Identify loss-making products and category-level performance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Assess the financial impact of discounts and returns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Analyse logistics and payment-fee leakage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Identify customer and data-quality risks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Translate findings into actionable business recommendations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92789-D076-04CE-7B03-977C1DA6A479}"/>
              </a:ext>
            </a:extLst>
          </p:cNvPr>
          <p:cNvSpPr txBox="1"/>
          <p:nvPr/>
        </p:nvSpPr>
        <p:spPr>
          <a:xfrm>
            <a:off x="1746511" y="5641609"/>
            <a:ext cx="9105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→ SQL Analysis → Leakage Diagnosis → Business Insights → Recommendations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971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FE6FC-7C36-787A-E533-7EB59F6A2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391" y="556617"/>
            <a:ext cx="10325000" cy="1442463"/>
          </a:xfrm>
        </p:spPr>
        <p:txBody>
          <a:bodyPr>
            <a:normAutofit fontScale="90000"/>
          </a:bodyPr>
          <a:lstStyle/>
          <a:p>
            <a:r>
              <a:rPr lang="en-US" dirty="0"/>
              <a:t>Data Model &amp; Relational Structure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DB9DA-3270-5C2B-36FA-AFD2CA210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51" y="1059439"/>
            <a:ext cx="10325000" cy="548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Data Model</a:t>
            </a:r>
          </a:p>
          <a:p>
            <a:pPr marL="0" indent="0">
              <a:buNone/>
            </a:pPr>
            <a:r>
              <a:rPr lang="en-US" sz="1600" b="1" dirty="0"/>
              <a:t>Core Tables</a:t>
            </a:r>
            <a:endParaRPr lang="en-US" sz="1600" dirty="0"/>
          </a:p>
          <a:p>
            <a:pPr lvl="0"/>
            <a:r>
              <a:rPr lang="en-US" sz="1600" b="1" dirty="0"/>
              <a:t>Orders</a:t>
            </a:r>
            <a:r>
              <a:rPr lang="en-US" sz="1600" dirty="0"/>
              <a:t> — transaction-level order and sales data</a:t>
            </a:r>
          </a:p>
          <a:p>
            <a:pPr lvl="0"/>
            <a:r>
              <a:rPr lang="en-US" sz="1600" b="1" dirty="0"/>
              <a:t>Products</a:t>
            </a:r>
            <a:r>
              <a:rPr lang="en-US" sz="1600" dirty="0"/>
              <a:t> — product, category, brand and cost information</a:t>
            </a:r>
          </a:p>
          <a:p>
            <a:pPr lvl="0"/>
            <a:r>
              <a:rPr lang="en-US" sz="1600" b="1" dirty="0"/>
              <a:t>Discounts</a:t>
            </a:r>
            <a:r>
              <a:rPr lang="en-US" sz="1600" dirty="0"/>
              <a:t> — discounts applied to individual orders</a:t>
            </a:r>
          </a:p>
          <a:p>
            <a:pPr lvl="0"/>
            <a:r>
              <a:rPr lang="en-US" sz="1600" b="1" dirty="0"/>
              <a:t>Returns</a:t>
            </a:r>
            <a:r>
              <a:rPr lang="en-US" sz="1600" dirty="0"/>
              <a:t> — returned orders and return reasons</a:t>
            </a:r>
          </a:p>
          <a:p>
            <a:pPr lvl="0"/>
            <a:r>
              <a:rPr lang="en-US" sz="1600" b="1" dirty="0"/>
              <a:t>Logistics Cost</a:t>
            </a:r>
            <a:r>
              <a:rPr lang="en-US" sz="1600" dirty="0"/>
              <a:t> — shipping and reverse-shipping costs</a:t>
            </a:r>
          </a:p>
          <a:p>
            <a:pPr lvl="0"/>
            <a:r>
              <a:rPr lang="en-US" sz="1600" b="1" dirty="0"/>
              <a:t>Payment Fees</a:t>
            </a:r>
            <a:r>
              <a:rPr lang="en-US" sz="1600" dirty="0"/>
              <a:t> — processing fees by payment method</a:t>
            </a:r>
          </a:p>
          <a:p>
            <a:pPr marL="0" indent="0">
              <a:buNone/>
            </a:pPr>
            <a:r>
              <a:rPr lang="en-US" sz="1600" b="1" dirty="0"/>
              <a:t>Orders act as the central transactional table connecting the </a:t>
            </a:r>
          </a:p>
          <a:p>
            <a:pPr marL="0" indent="0">
              <a:buNone/>
            </a:pPr>
            <a:r>
              <a:rPr lang="en-US" sz="1600" b="1" dirty="0"/>
              <a:t>marketplace's commercial and operational data.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C9EAF23-9710-1915-40F0-6AECF5B7C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962220"/>
            <a:ext cx="4847759" cy="49335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C826CA-5455-C2E0-A79C-962BC46237E5}"/>
              </a:ext>
            </a:extLst>
          </p:cNvPr>
          <p:cNvSpPr/>
          <p:nvPr/>
        </p:nvSpPr>
        <p:spPr>
          <a:xfrm>
            <a:off x="6419850" y="5777563"/>
            <a:ext cx="5772150" cy="96222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b="1" dirty="0"/>
              <a:t>Relational model used to connect sales, product, discount, return, logistics and payment data for profitability analysis.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94205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FB50D-A29A-A860-BC64-D11510901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5818396" cy="1409213"/>
          </a:xfrm>
        </p:spPr>
        <p:txBody>
          <a:bodyPr>
            <a:noAutofit/>
          </a:bodyPr>
          <a:lstStyle/>
          <a:p>
            <a:r>
              <a:rPr lang="en-US" sz="2800" dirty="0"/>
              <a:t>Executive Profitability Snapshot</a:t>
            </a: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022285-F287-781F-396A-8ABDA1B662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739661"/>
              </p:ext>
            </p:extLst>
          </p:nvPr>
        </p:nvGraphicFramePr>
        <p:xfrm>
          <a:off x="940890" y="1749092"/>
          <a:ext cx="103251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>
                  <a:extLst>
                    <a:ext uri="{9D8B030D-6E8A-4147-A177-3AD203B41FA5}">
                      <a16:colId xmlns:a16="http://schemas.microsoft.com/office/drawing/2014/main" val="259024771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455113311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32551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GROSS PROFIT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4564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₹62.83M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₹30.32M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₹32.51M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4822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869CDF-A17E-CCF9-A046-00D31C96B23C}"/>
              </a:ext>
            </a:extLst>
          </p:cNvPr>
          <p:cNvSpPr txBox="1"/>
          <p:nvPr/>
        </p:nvSpPr>
        <p:spPr>
          <a:xfrm>
            <a:off x="7808241" y="2487986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51.7% of sales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7412C4-6F2E-FA1A-624F-AE4942D7E19C}"/>
              </a:ext>
            </a:extLst>
          </p:cNvPr>
          <p:cNvSpPr txBox="1"/>
          <p:nvPr/>
        </p:nvSpPr>
        <p:spPr>
          <a:xfrm>
            <a:off x="398793" y="3991238"/>
            <a:ext cx="56744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Insight</a:t>
            </a:r>
            <a:endParaRPr lang="en-US" dirty="0"/>
          </a:p>
          <a:p>
            <a:r>
              <a:rPr lang="en-US" dirty="0"/>
              <a:t>The marketplace demonstrates strong gross product profitability, but gross profit does not reflect the full economics of the business.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04FFF-A861-740E-4B3F-07BE8D3DFBD3}"/>
              </a:ext>
            </a:extLst>
          </p:cNvPr>
          <p:cNvSpPr txBox="1"/>
          <p:nvPr/>
        </p:nvSpPr>
        <p:spPr>
          <a:xfrm>
            <a:off x="404892" y="5473660"/>
            <a:ext cx="5617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Profit is subsequently exposed to:</a:t>
            </a:r>
            <a:endParaRPr lang="en-US" dirty="0"/>
          </a:p>
          <a:p>
            <a:r>
              <a:rPr lang="en-US" b="1" dirty="0"/>
              <a:t>Discounts • Returns • Logistics Costs • Payment Fees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B0B49-AF04-AC7D-7D72-4059AC0D085E}"/>
              </a:ext>
            </a:extLst>
          </p:cNvPr>
          <p:cNvSpPr txBox="1"/>
          <p:nvPr/>
        </p:nvSpPr>
        <p:spPr>
          <a:xfrm>
            <a:off x="6506978" y="4118732"/>
            <a:ext cx="53802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Question</a:t>
            </a:r>
          </a:p>
          <a:p>
            <a:endParaRPr lang="en-US" b="1" dirty="0"/>
          </a:p>
          <a:p>
            <a:r>
              <a:rPr lang="en-US" b="1" dirty="0"/>
              <a:t>₹32.51M Gross Profit</a:t>
            </a:r>
            <a:endParaRPr lang="en-US" dirty="0"/>
          </a:p>
          <a:p>
            <a:r>
              <a:rPr lang="en-US" dirty="0"/>
              <a:t>↓</a:t>
            </a:r>
          </a:p>
          <a:p>
            <a:r>
              <a:rPr lang="en-US" b="1" dirty="0"/>
              <a:t>How much value is being eroded by commercial and operational leakage?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563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CD5E6-095D-955C-39DA-DD6A75DE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74" y="-93319"/>
            <a:ext cx="10451047" cy="1362156"/>
          </a:xfrm>
        </p:spPr>
        <p:txBody>
          <a:bodyPr>
            <a:normAutofit/>
          </a:bodyPr>
          <a:lstStyle/>
          <a:p>
            <a:r>
              <a:rPr lang="en-US" sz="3600" dirty="0"/>
              <a:t>Category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19643-5759-60C2-1375-8DEFFE7ED80C}"/>
              </a:ext>
            </a:extLst>
          </p:cNvPr>
          <p:cNvSpPr txBox="1"/>
          <p:nvPr/>
        </p:nvSpPr>
        <p:spPr>
          <a:xfrm>
            <a:off x="6703727" y="1502960"/>
            <a:ext cx="509699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Business Insights</a:t>
            </a:r>
          </a:p>
          <a:p>
            <a:endParaRPr lang="en-US" sz="1400" dirty="0"/>
          </a:p>
          <a:p>
            <a:pPr lvl="0"/>
            <a:r>
              <a:rPr lang="en-US" sz="1400" b="1" dirty="0"/>
              <a:t>Electronics</a:t>
            </a:r>
            <a:r>
              <a:rPr lang="en-US" sz="1400" dirty="0"/>
              <a:t> leads in sales (₹12.00M) and gross profit (₹6.27M), contributing 19.1% of total revenue.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Grocery</a:t>
            </a:r>
            <a:r>
              <a:rPr lang="en-US" sz="1400" dirty="0"/>
              <a:t> achieves the highest gross profit margin (52.82%), despite generating lower sales than Electronics, Fashion and Home.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/>
              <a:t>Fashion</a:t>
            </a:r>
            <a:r>
              <a:rPr lang="en-US" sz="1400" dirty="0"/>
              <a:t> records the lowest margin among the five identified categories (50.28%).</a:t>
            </a:r>
          </a:p>
          <a:p>
            <a:pPr lvl="0"/>
            <a:endParaRPr lang="en-US" sz="1400" dirty="0"/>
          </a:p>
          <a:p>
            <a:pPr lvl="0"/>
            <a:r>
              <a:rPr lang="en-US" sz="1400" b="1" dirty="0" err="1"/>
              <a:t>Uncategorised</a:t>
            </a:r>
            <a:r>
              <a:rPr lang="en-US" sz="1400" b="1" dirty="0"/>
              <a:t> products</a:t>
            </a:r>
            <a:r>
              <a:rPr lang="en-US" sz="1400" dirty="0"/>
              <a:t> account for ₹8.73M in sales (13.9%), highlighting a significant product classification gap.</a:t>
            </a:r>
          </a:p>
          <a:p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4B2D63-4463-1AC2-AEEA-13CF5CD22461}"/>
              </a:ext>
            </a:extLst>
          </p:cNvPr>
          <p:cNvSpPr txBox="1"/>
          <p:nvPr/>
        </p:nvSpPr>
        <p:spPr>
          <a:xfrm>
            <a:off x="6684066" y="4782946"/>
            <a:ext cx="49807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Business Implications</a:t>
            </a:r>
            <a:endParaRPr lang="en-US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Prioritise</a:t>
            </a:r>
            <a:r>
              <a:rPr lang="en-US" sz="1400" dirty="0"/>
              <a:t> Electronics for further profitability and leakage analysis because of its high revenue contribution.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Investigate Fashion's comparatively lower margin to identify potential pricing or product-cost inefficiencies.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Resolve missing product categories to improve reporting accuracy and category-level decision-making.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6C81E4-5C04-9792-80C3-952FEBD813F8}"/>
              </a:ext>
            </a:extLst>
          </p:cNvPr>
          <p:cNvSpPr txBox="1"/>
          <p:nvPr/>
        </p:nvSpPr>
        <p:spPr>
          <a:xfrm>
            <a:off x="754290" y="1615309"/>
            <a:ext cx="39597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ELECTRONICS</a:t>
            </a:r>
            <a:br>
              <a:rPr lang="en-US" dirty="0"/>
            </a:br>
            <a:r>
              <a:rPr lang="en-US" dirty="0"/>
              <a:t>₹12.00M Sales | ₹6.27M Gross Profit</a:t>
            </a:r>
            <a:br>
              <a:rPr lang="en-US" dirty="0"/>
            </a:br>
            <a:r>
              <a:rPr lang="en-US" b="1" dirty="0"/>
              <a:t>Highest sales &amp; gross profit</a:t>
            </a:r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4691C-26AA-5086-FC51-52FEB34728D5}"/>
              </a:ext>
            </a:extLst>
          </p:cNvPr>
          <p:cNvSpPr txBox="1"/>
          <p:nvPr/>
        </p:nvSpPr>
        <p:spPr>
          <a:xfrm>
            <a:off x="754290" y="2900839"/>
            <a:ext cx="27911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GROCERY</a:t>
            </a:r>
            <a:br>
              <a:rPr lang="en-US" dirty="0"/>
            </a:br>
            <a:r>
              <a:rPr lang="en-US" dirty="0"/>
              <a:t>52.82% Gross Margin</a:t>
            </a:r>
            <a:br>
              <a:rPr lang="en-US" dirty="0"/>
            </a:br>
            <a:r>
              <a:rPr lang="en-US" b="1" dirty="0"/>
              <a:t>Highest identified margin</a:t>
            </a:r>
            <a:endParaRPr lang="en-US" dirty="0"/>
          </a:p>
          <a:p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A6DF91-DFFF-A870-FBED-BBBFCA906A77}"/>
              </a:ext>
            </a:extLst>
          </p:cNvPr>
          <p:cNvSpPr txBox="1"/>
          <p:nvPr/>
        </p:nvSpPr>
        <p:spPr>
          <a:xfrm>
            <a:off x="779341" y="4029166"/>
            <a:ext cx="37834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FASHION</a:t>
            </a:r>
            <a:br>
              <a:rPr lang="en-US" dirty="0"/>
            </a:br>
            <a:r>
              <a:rPr lang="en-US" dirty="0"/>
              <a:t>50.28% Gross Margin</a:t>
            </a:r>
            <a:br>
              <a:rPr lang="en-US" dirty="0"/>
            </a:br>
            <a:r>
              <a:rPr lang="en-US" b="1" dirty="0"/>
              <a:t>Lowest identified-category margin</a:t>
            </a:r>
            <a:endParaRPr lang="en-US" dirty="0"/>
          </a:p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8D5B68-AF55-511A-B0FD-439107C0EA96}"/>
              </a:ext>
            </a:extLst>
          </p:cNvPr>
          <p:cNvSpPr txBox="1"/>
          <p:nvPr/>
        </p:nvSpPr>
        <p:spPr>
          <a:xfrm>
            <a:off x="779341" y="5262759"/>
            <a:ext cx="35237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UNCATEGORISED</a:t>
            </a:r>
            <a:br>
              <a:rPr lang="en-US" dirty="0"/>
            </a:br>
            <a:r>
              <a:rPr lang="en-US" dirty="0"/>
              <a:t>₹8.73M Sales | 13.9% of revenue</a:t>
            </a:r>
            <a:br>
              <a:rPr lang="en-US" dirty="0"/>
            </a:br>
            <a:r>
              <a:rPr lang="en-US" b="1" dirty="0"/>
              <a:t>Classification gap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4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ight Triangle 85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89" y="15123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F2147B-DDC3-C1A9-91AC-D96D30C0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46" y="13398"/>
            <a:ext cx="10611627" cy="993961"/>
          </a:xfrm>
        </p:spPr>
        <p:txBody>
          <a:bodyPr anchor="ctr">
            <a:normAutofit/>
          </a:bodyPr>
          <a:lstStyle/>
          <a:p>
            <a:r>
              <a:rPr lang="en-US" dirty="0"/>
              <a:t>Discount Usage &amp; Effectiveness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1E8EB-40A6-B366-66FB-0B3A7062553A}"/>
              </a:ext>
            </a:extLst>
          </p:cNvPr>
          <p:cNvSpPr txBox="1"/>
          <p:nvPr/>
        </p:nvSpPr>
        <p:spPr>
          <a:xfrm>
            <a:off x="590764" y="1014958"/>
            <a:ext cx="2945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Discount Value	</a:t>
            </a:r>
          </a:p>
          <a:p>
            <a:r>
              <a:rPr lang="en-US" b="1" dirty="0"/>
              <a:t>₹5.73M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0D6C5-166A-D7DF-A378-D73F42237517}"/>
              </a:ext>
            </a:extLst>
          </p:cNvPr>
          <p:cNvSpPr txBox="1"/>
          <p:nvPr/>
        </p:nvSpPr>
        <p:spPr>
          <a:xfrm>
            <a:off x="3728765" y="967524"/>
            <a:ext cx="2701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Discount-to-Sales Ratio</a:t>
            </a:r>
          </a:p>
          <a:p>
            <a:r>
              <a:rPr lang="en-US" b="1" dirty="0"/>
              <a:t>9.12%</a:t>
            </a:r>
          </a:p>
          <a:p>
            <a:r>
              <a:rPr lang="en-US" dirty="0"/>
              <a:t>Of gross order value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799F22-D720-9EB3-085D-AF7FC9DB590C}"/>
              </a:ext>
            </a:extLst>
          </p:cNvPr>
          <p:cNvSpPr txBox="1"/>
          <p:nvPr/>
        </p:nvSpPr>
        <p:spPr>
          <a:xfrm>
            <a:off x="7637520" y="963847"/>
            <a:ext cx="24721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Orders with Discounts</a:t>
            </a:r>
          </a:p>
          <a:p>
            <a:r>
              <a:rPr lang="en-US" b="1" dirty="0"/>
              <a:t>7,417</a:t>
            </a:r>
          </a:p>
          <a:p>
            <a:r>
              <a:rPr lang="en-US" dirty="0"/>
              <a:t>33.71% of all orders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96DBEA-C983-F64C-E318-A4718A8457A9}"/>
              </a:ext>
            </a:extLst>
          </p:cNvPr>
          <p:cNvSpPr txBox="1"/>
          <p:nvPr/>
        </p:nvSpPr>
        <p:spPr>
          <a:xfrm>
            <a:off x="5544189" y="2093115"/>
            <a:ext cx="644906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Business Findings</a:t>
            </a:r>
          </a:p>
          <a:p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Total recorded discounts amount to </a:t>
            </a:r>
            <a:r>
              <a:rPr lang="en-US" sz="1600" b="1" dirty="0"/>
              <a:t>₹5.73M</a:t>
            </a:r>
            <a:r>
              <a:rPr lang="en-US" sz="1600" dirty="0"/>
              <a:t>, equivalent to 9.12% of gross order value.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Coupon discounts contribute the highest identified promotional expenditure at ₹1.54M.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26.55% of discount value (₹1.52M)</a:t>
            </a:r>
            <a:r>
              <a:rPr lang="en-US" sz="1600" dirty="0"/>
              <a:t> lacks discount-type classification, reducing promotional transparency.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Multiple discount records exist for some orders, indicating potential discount stacking that requires validation.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Business Implications</a:t>
            </a:r>
          </a:p>
          <a:p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Investigate unclassified discounts to improve promotional accountability.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Review orders with multiple discounts for potential policy violations.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Evaluate discount effectiveness against post-discount profitability before adjusting promotional strategies.</a:t>
            </a:r>
          </a:p>
          <a:p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6231B-D964-EBE2-09D8-C6CC6634F362}"/>
              </a:ext>
            </a:extLst>
          </p:cNvPr>
          <p:cNvSpPr txBox="1"/>
          <p:nvPr/>
        </p:nvSpPr>
        <p:spPr>
          <a:xfrm>
            <a:off x="646141" y="2217627"/>
            <a:ext cx="361188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COUPON</a:t>
            </a:r>
            <a:br>
              <a:rPr lang="en-US" sz="1600" dirty="0"/>
            </a:br>
            <a:r>
              <a:rPr lang="en-US" sz="1600" dirty="0"/>
              <a:t>₹1.54M</a:t>
            </a:r>
            <a:br>
              <a:rPr lang="en-US" sz="1600" dirty="0"/>
            </a:br>
            <a:r>
              <a:rPr lang="en-US" sz="1600" dirty="0"/>
              <a:t>Largest identified promotional spend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UNSPECIFIED</a:t>
            </a:r>
            <a:br>
              <a:rPr lang="en-US" sz="1600" dirty="0"/>
            </a:br>
            <a:r>
              <a:rPr lang="en-US" sz="1600" dirty="0"/>
              <a:t>₹1.52M</a:t>
            </a:r>
            <a:br>
              <a:rPr lang="en-US" sz="1600" dirty="0"/>
            </a:br>
            <a:r>
              <a:rPr lang="en-US" sz="1600" dirty="0"/>
              <a:t>26.55% of total discount value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FESTIVAL</a:t>
            </a:r>
            <a:br>
              <a:rPr lang="en-US" sz="1600" dirty="0"/>
            </a:br>
            <a:r>
              <a:rPr lang="en-US" sz="1600" dirty="0"/>
              <a:t>₹1.36M</a:t>
            </a:r>
            <a:br>
              <a:rPr lang="en-US" sz="1600" dirty="0"/>
            </a:br>
            <a:r>
              <a:rPr lang="en-US" sz="1600" dirty="0"/>
              <a:t>23.67% of total discount value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BANK OFFER</a:t>
            </a:r>
            <a:br>
              <a:rPr lang="en-US" sz="1600" dirty="0"/>
            </a:br>
            <a:r>
              <a:rPr lang="en-US" sz="1600" dirty="0"/>
              <a:t>₹1.31M</a:t>
            </a:r>
            <a:br>
              <a:rPr lang="en-US" sz="1600" dirty="0"/>
            </a:br>
            <a:r>
              <a:rPr lang="en-US" sz="1600" dirty="0"/>
              <a:t>22.91% of total discount value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7072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89" y="15123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7A5E09-946F-1557-0122-44E7BC68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301545"/>
            <a:ext cx="10611627" cy="1227943"/>
          </a:xfrm>
        </p:spPr>
        <p:txBody>
          <a:bodyPr anchor="ctr">
            <a:normAutofit/>
          </a:bodyPr>
          <a:lstStyle/>
          <a:p>
            <a:r>
              <a:rPr lang="en-US" dirty="0"/>
              <a:t>Product Profitability &amp; Loss Risk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7DECC3B1-D4A8-D29F-1D69-49268E7AF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566277"/>
              </p:ext>
            </p:extLst>
          </p:nvPr>
        </p:nvGraphicFramePr>
        <p:xfrm>
          <a:off x="698467" y="1473754"/>
          <a:ext cx="103251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>
                  <a:extLst>
                    <a:ext uri="{9D8B030D-6E8A-4147-A177-3AD203B41FA5}">
                      <a16:colId xmlns:a16="http://schemas.microsoft.com/office/drawing/2014/main" val="1780164836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1090841381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2075483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PRODUCTS ANALYSED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LOSS-MAKING 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LOSS-MAKING SHARE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682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31987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F0131E6E-080C-4CD6-BA0A-8F9A614A7E72}"/>
              </a:ext>
            </a:extLst>
          </p:cNvPr>
          <p:cNvSpPr txBox="1"/>
          <p:nvPr/>
        </p:nvSpPr>
        <p:spPr>
          <a:xfrm>
            <a:off x="698467" y="2638614"/>
            <a:ext cx="67366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Business Findings</a:t>
            </a:r>
          </a:p>
          <a:p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71 of 1,000 products (7.1%)</a:t>
            </a:r>
            <a:r>
              <a:rPr lang="en-US" sz="1600" dirty="0"/>
              <a:t> generated negative gross profit.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Loss-making products can remain hidden when performance is viewed only at category or marketplace level.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Product-level losses may reflect combinations of </a:t>
            </a:r>
            <a:r>
              <a:rPr lang="en-US" sz="1600" b="1" dirty="0"/>
              <a:t>selling price, procurement cost and discounting</a:t>
            </a:r>
            <a:r>
              <a:rPr lang="en-US" sz="1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Product profitability varies materially even within otherwise profitable categories.</a:t>
            </a:r>
          </a:p>
          <a:p>
            <a:endParaRPr lang="en-US" sz="1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1A3631-EA4C-46FB-0138-FB6241290EE8}"/>
              </a:ext>
            </a:extLst>
          </p:cNvPr>
          <p:cNvSpPr txBox="1"/>
          <p:nvPr/>
        </p:nvSpPr>
        <p:spPr>
          <a:xfrm>
            <a:off x="666085" y="5475985"/>
            <a:ext cx="59116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Business Implication</a:t>
            </a:r>
            <a:endParaRPr lang="en-US" sz="1600" dirty="0"/>
          </a:p>
          <a:p>
            <a:r>
              <a:rPr lang="en-US" sz="1600" dirty="0"/>
              <a:t>Introduce product-level profitability monitoring to identify persistent loss-makers before they materially erode category margins.</a:t>
            </a:r>
          </a:p>
          <a:p>
            <a:endParaRPr lang="en-US" sz="1600" dirty="0"/>
          </a:p>
        </p:txBody>
      </p:sp>
      <p:graphicFrame>
        <p:nvGraphicFramePr>
          <p:cNvPr id="59" name="Chart 58">
            <a:extLst>
              <a:ext uri="{FF2B5EF4-FFF2-40B4-BE49-F238E27FC236}">
                <a16:creationId xmlns:a16="http://schemas.microsoft.com/office/drawing/2014/main" id="{7C2A027F-615D-C760-5B2E-7BCD559633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0774012"/>
              </p:ext>
            </p:extLst>
          </p:nvPr>
        </p:nvGraphicFramePr>
        <p:xfrm>
          <a:off x="7228250" y="2481178"/>
          <a:ext cx="5312746" cy="3525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7939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Triangle 56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82B36-D32C-B1FE-5F13-C1F948AFF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74" y="203160"/>
            <a:ext cx="10624793" cy="839855"/>
          </a:xfrm>
        </p:spPr>
        <p:txBody>
          <a:bodyPr>
            <a:normAutofit/>
          </a:bodyPr>
          <a:lstStyle/>
          <a:p>
            <a:r>
              <a:rPr lang="en-US" sz="4000" dirty="0"/>
              <a:t>Returns &amp; Financial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7709-5C49-7F18-AB20-1F876FAA3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9770" y="2293441"/>
            <a:ext cx="5818396" cy="2849462"/>
          </a:xfrm>
        </p:spPr>
        <p:txBody>
          <a:bodyPr>
            <a:normAutofit/>
          </a:bodyPr>
          <a:lstStyle/>
          <a:p>
            <a:r>
              <a:rPr lang="en-US" sz="1400" b="1" dirty="0"/>
              <a:t>Key Business Findings</a:t>
            </a:r>
            <a:endParaRPr lang="en-US" sz="1400" dirty="0"/>
          </a:p>
          <a:p>
            <a:pPr lvl="0"/>
            <a:r>
              <a:rPr lang="en-US" sz="1400" b="1" dirty="0"/>
              <a:t>1,290 returned orders</a:t>
            </a:r>
            <a:r>
              <a:rPr lang="en-US" sz="1400" dirty="0"/>
              <a:t> were associated with approximately </a:t>
            </a:r>
            <a:r>
              <a:rPr lang="en-US" sz="1400" b="1" dirty="0"/>
              <a:t>₹3.69M in lost revenue</a:t>
            </a:r>
            <a:r>
              <a:rPr lang="en-US" sz="1400" dirty="0"/>
              <a:t> and </a:t>
            </a:r>
            <a:r>
              <a:rPr lang="en-US" sz="1400" b="1" dirty="0"/>
              <a:t>₹1.93M in lost gross profit</a:t>
            </a:r>
            <a:r>
              <a:rPr lang="en-US" sz="1400" dirty="0"/>
              <a:t>.</a:t>
            </a:r>
          </a:p>
          <a:p>
            <a:pPr lvl="0"/>
            <a:r>
              <a:rPr lang="en-US" sz="1400" dirty="0"/>
              <a:t>Returns represent a material source of profitability erosion.</a:t>
            </a:r>
          </a:p>
          <a:p>
            <a:pPr lvl="0"/>
            <a:r>
              <a:rPr lang="en-US" sz="1400" b="1" dirty="0"/>
              <a:t>Unknown is the largest recorded return-reason group</a:t>
            </a:r>
            <a:r>
              <a:rPr lang="en-US" sz="1400" dirty="0"/>
              <a:t>, accounting for </a:t>
            </a:r>
            <a:r>
              <a:rPr lang="en-US" sz="1400" b="1" dirty="0"/>
              <a:t>242 returns and approximately ₹714.7K in lost revenue</a:t>
            </a:r>
            <a:r>
              <a:rPr lang="en-US" sz="1400" dirty="0"/>
              <a:t>.</a:t>
            </a:r>
          </a:p>
          <a:p>
            <a:pPr lvl="0"/>
            <a:r>
              <a:rPr lang="en-US" sz="1400" dirty="0"/>
              <a:t>The high volume of unclassified returns limits management's ability to identify the underlying operational causes.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CB33A6-C186-0FD3-C256-8E7465776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254466"/>
              </p:ext>
            </p:extLst>
          </p:nvPr>
        </p:nvGraphicFramePr>
        <p:xfrm>
          <a:off x="677374" y="1331819"/>
          <a:ext cx="10325100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1700">
                  <a:extLst>
                    <a:ext uri="{9D8B030D-6E8A-4147-A177-3AD203B41FA5}">
                      <a16:colId xmlns:a16="http://schemas.microsoft.com/office/drawing/2014/main" val="200858113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2072177849"/>
                    </a:ext>
                  </a:extLst>
                </a:gridCol>
                <a:gridCol w="3441700">
                  <a:extLst>
                    <a:ext uri="{9D8B030D-6E8A-4147-A177-3AD203B41FA5}">
                      <a16:colId xmlns:a16="http://schemas.microsoft.com/office/drawing/2014/main" val="8626409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RETURNED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REVENUE LOST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GROSS PROFIT LOST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28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1,290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₹3.69M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₹1.93M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4988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453F81-D1F1-F100-4871-D292DF4BAF4A}"/>
              </a:ext>
            </a:extLst>
          </p:cNvPr>
          <p:cNvSpPr txBox="1"/>
          <p:nvPr/>
        </p:nvSpPr>
        <p:spPr>
          <a:xfrm>
            <a:off x="6155078" y="5411091"/>
            <a:ext cx="57759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Business Implication</a:t>
            </a:r>
          </a:p>
          <a:p>
            <a:endParaRPr lang="en-US" sz="1600" b="1" dirty="0"/>
          </a:p>
          <a:p>
            <a:r>
              <a:rPr lang="en-US" sz="1600" dirty="0"/>
              <a:t>Returns are both a profitability issue and a data-quality issue. Improving return-reason capture is necessary before management can effectively target root causes.</a:t>
            </a:r>
          </a:p>
          <a:p>
            <a:endParaRPr lang="en-US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3856A3-FCC8-C525-645E-A5AB39442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06722"/>
              </p:ext>
            </p:extLst>
          </p:nvPr>
        </p:nvGraphicFramePr>
        <p:xfrm>
          <a:off x="691076" y="2268900"/>
          <a:ext cx="5109508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7870">
                  <a:extLst>
                    <a:ext uri="{9D8B030D-6E8A-4147-A177-3AD203B41FA5}">
                      <a16:colId xmlns:a16="http://schemas.microsoft.com/office/drawing/2014/main" val="3603284105"/>
                    </a:ext>
                  </a:extLst>
                </a:gridCol>
                <a:gridCol w="3264403">
                  <a:extLst>
                    <a:ext uri="{9D8B030D-6E8A-4147-A177-3AD203B41FA5}">
                      <a16:colId xmlns:a16="http://schemas.microsoft.com/office/drawing/2014/main" val="1912501900"/>
                    </a:ext>
                  </a:extLst>
                </a:gridCol>
                <a:gridCol w="1087235">
                  <a:extLst>
                    <a:ext uri="{9D8B030D-6E8A-4147-A177-3AD203B41FA5}">
                      <a16:colId xmlns:a16="http://schemas.microsoft.com/office/drawing/2014/main" val="519623311"/>
                    </a:ext>
                  </a:extLst>
                </a:gridCol>
              </a:tblGrid>
              <a:tr h="5088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 Reason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Revenue Lost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1530963"/>
                  </a:ext>
                </a:extLst>
              </a:tr>
              <a:tr h="2907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₹714.7K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247258"/>
                  </a:ext>
                </a:extLst>
              </a:tr>
              <a:tr h="2907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Damaged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₹636.4K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7396373"/>
                  </a:ext>
                </a:extLst>
              </a:tr>
              <a:tr h="2907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Quality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₹628.7K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557656"/>
                  </a:ext>
                </a:extLst>
              </a:tr>
              <a:tr h="2907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Changed Mind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₹609.6K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765713"/>
                  </a:ext>
                </a:extLst>
              </a:tr>
              <a:tr h="2907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Wrong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₹592.0K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95913"/>
                  </a:ext>
                </a:extLst>
              </a:tr>
              <a:tr h="29079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Late 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₹581.8K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58287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3F65A6-81CF-B842-FC34-E1FAB6DA28FF}"/>
              </a:ext>
            </a:extLst>
          </p:cNvPr>
          <p:cNvSpPr txBox="1"/>
          <p:nvPr/>
        </p:nvSpPr>
        <p:spPr>
          <a:xfrm>
            <a:off x="209141" y="5229356"/>
            <a:ext cx="595387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242 returns</a:t>
            </a:r>
            <a:br>
              <a:rPr lang="en-US" sz="1400" dirty="0"/>
            </a:br>
            <a:r>
              <a:rPr lang="en-US" sz="1400" dirty="0"/>
              <a:t>Unknown reason</a:t>
            </a:r>
          </a:p>
          <a:p>
            <a:endParaRPr lang="en-US" sz="1400" dirty="0"/>
          </a:p>
          <a:p>
            <a:r>
              <a:rPr lang="en-US" sz="1400" b="1" dirty="0"/>
              <a:t>₹714.7K</a:t>
            </a:r>
            <a:br>
              <a:rPr lang="en-US" sz="1400" dirty="0"/>
            </a:br>
            <a:r>
              <a:rPr lang="en-US" sz="1400" dirty="0"/>
              <a:t>Associated revenue loss</a:t>
            </a:r>
          </a:p>
          <a:p>
            <a:endParaRPr lang="en-US" sz="1400" dirty="0"/>
          </a:p>
          <a:p>
            <a:r>
              <a:rPr lang="en-US" sz="1400" b="1" dirty="0"/>
              <a:t>Key issue:</a:t>
            </a:r>
            <a:r>
              <a:rPr lang="en-US" sz="1400" dirty="0"/>
              <a:t> The largest return-reason category is not actually classified.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7446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3E138-0125-0107-6AAF-5660151D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4" y="326457"/>
            <a:ext cx="10611627" cy="802047"/>
          </a:xfrm>
        </p:spPr>
        <p:txBody>
          <a:bodyPr>
            <a:normAutofit/>
          </a:bodyPr>
          <a:lstStyle/>
          <a:p>
            <a:r>
              <a:rPr lang="en-US" dirty="0"/>
              <a:t>Logistics &amp; Payment Cost Burden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BD003-44E2-E3DB-FF0B-73554FD6C42A}"/>
              </a:ext>
            </a:extLst>
          </p:cNvPr>
          <p:cNvSpPr txBox="1"/>
          <p:nvPr/>
        </p:nvSpPr>
        <p:spPr>
          <a:xfrm>
            <a:off x="677374" y="1455876"/>
            <a:ext cx="23968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Logistics Cost Exposure</a:t>
            </a:r>
          </a:p>
          <a:p>
            <a:endParaRPr lang="en-US" sz="1600" dirty="0"/>
          </a:p>
          <a:p>
            <a:r>
              <a:rPr lang="en-US" sz="1600" b="1" dirty="0"/>
              <a:t>₹1.19M</a:t>
            </a:r>
            <a:br>
              <a:rPr lang="en-US" sz="1600" dirty="0"/>
            </a:br>
            <a:r>
              <a:rPr lang="en-US" sz="1600" dirty="0"/>
              <a:t>Total Logistics Cost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191CA-1D62-B57B-3198-F09736721CB1}"/>
              </a:ext>
            </a:extLst>
          </p:cNvPr>
          <p:cNvSpPr txBox="1"/>
          <p:nvPr/>
        </p:nvSpPr>
        <p:spPr>
          <a:xfrm>
            <a:off x="677375" y="2789014"/>
            <a:ext cx="54186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Key Finding</a:t>
            </a:r>
            <a:endParaRPr lang="en-US" sz="1600" dirty="0"/>
          </a:p>
          <a:p>
            <a:r>
              <a:rPr lang="en-US" sz="1600" dirty="0"/>
              <a:t>Orders where logistics cost exceeds </a:t>
            </a:r>
            <a:r>
              <a:rPr lang="en-US" sz="1600" b="1" dirty="0"/>
              <a:t>20% of order value</a:t>
            </a:r>
            <a:r>
              <a:rPr lang="en-US" sz="1600" dirty="0"/>
              <a:t> indicate potential fulfilment inefficiencies or uneconomical transactions.</a:t>
            </a:r>
          </a:p>
          <a:p>
            <a:endParaRPr lang="en-US" sz="1600" dirty="0"/>
          </a:p>
          <a:p>
            <a:r>
              <a:rPr lang="en-US" sz="1600" b="1" dirty="0"/>
              <a:t>Anomaly identified:</a:t>
            </a:r>
            <a:r>
              <a:rPr lang="en-US" sz="1600" dirty="0"/>
              <a:t> One </a:t>
            </a:r>
            <a:r>
              <a:rPr lang="en-US" sz="1600" dirty="0" err="1"/>
              <a:t>analysed</a:t>
            </a:r>
            <a:r>
              <a:rPr lang="en-US" sz="1600" dirty="0"/>
              <a:t> order recorded ₹0 order value with ₹241 logistics cost.</a:t>
            </a:r>
          </a:p>
          <a:p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5470E-31AC-828A-7A02-54323506DAD9}"/>
              </a:ext>
            </a:extLst>
          </p:cNvPr>
          <p:cNvSpPr txBox="1"/>
          <p:nvPr/>
        </p:nvSpPr>
        <p:spPr>
          <a:xfrm>
            <a:off x="6401003" y="1481531"/>
            <a:ext cx="26420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Payment Processing Costs</a:t>
            </a:r>
          </a:p>
          <a:p>
            <a:endParaRPr lang="en-US" sz="1600" dirty="0"/>
          </a:p>
          <a:p>
            <a:r>
              <a:rPr lang="en-US" sz="1600" b="1" dirty="0"/>
              <a:t>₹1.10M</a:t>
            </a:r>
            <a:br>
              <a:rPr lang="en-US" sz="1600" dirty="0"/>
            </a:br>
            <a:r>
              <a:rPr lang="en-US" sz="1600" dirty="0"/>
              <a:t>Total Payment Fees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CD15D8-F1B0-E285-B6C8-3DD3998B832E}"/>
              </a:ext>
            </a:extLst>
          </p:cNvPr>
          <p:cNvSpPr txBox="1"/>
          <p:nvPr/>
        </p:nvSpPr>
        <p:spPr>
          <a:xfrm>
            <a:off x="677375" y="5892807"/>
            <a:ext cx="111233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Business Implication:</a:t>
            </a:r>
            <a:r>
              <a:rPr lang="en-US" sz="1600" dirty="0"/>
              <a:t> Fulfilment and payment costs create additional margin pressure beyond product economics. COD generates the highest payment-fee burden, while high logistics-to-order-value ratios highlight transactions requiring operational review.</a:t>
            </a:r>
          </a:p>
          <a:p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803AC-7C12-4F9A-EBF8-EC315321A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239143"/>
              </p:ext>
            </p:extLst>
          </p:nvPr>
        </p:nvGraphicFramePr>
        <p:xfrm>
          <a:off x="6405529" y="2648882"/>
          <a:ext cx="4105785" cy="2169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8595">
                  <a:extLst>
                    <a:ext uri="{9D8B030D-6E8A-4147-A177-3AD203B41FA5}">
                      <a16:colId xmlns:a16="http://schemas.microsoft.com/office/drawing/2014/main" val="1383390321"/>
                    </a:ext>
                  </a:extLst>
                </a:gridCol>
                <a:gridCol w="1368595">
                  <a:extLst>
                    <a:ext uri="{9D8B030D-6E8A-4147-A177-3AD203B41FA5}">
                      <a16:colId xmlns:a16="http://schemas.microsoft.com/office/drawing/2014/main" val="3617285299"/>
                    </a:ext>
                  </a:extLst>
                </a:gridCol>
                <a:gridCol w="1368595">
                  <a:extLst>
                    <a:ext uri="{9D8B030D-6E8A-4147-A177-3AD203B41FA5}">
                      <a16:colId xmlns:a16="http://schemas.microsoft.com/office/drawing/2014/main" val="4206973439"/>
                    </a:ext>
                  </a:extLst>
                </a:gridCol>
              </a:tblGrid>
              <a:tr h="660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Fee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Total Fees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317648"/>
                  </a:ext>
                </a:extLst>
              </a:tr>
              <a:tr h="37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3.5%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₹437.3K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506415"/>
                  </a:ext>
                </a:extLst>
              </a:tr>
              <a:tr h="37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₹257.3K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7016240"/>
                  </a:ext>
                </a:extLst>
              </a:tr>
              <a:tr h="37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Wallet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2.0%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₹251.7K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049776"/>
                  </a:ext>
                </a:extLst>
              </a:tr>
              <a:tr h="377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1.2%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₹152.1K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7035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63D44C2-D269-8C9C-0DB5-9BE564937581}"/>
              </a:ext>
            </a:extLst>
          </p:cNvPr>
          <p:cNvSpPr txBox="1"/>
          <p:nvPr/>
        </p:nvSpPr>
        <p:spPr>
          <a:xfrm>
            <a:off x="6401003" y="4925044"/>
            <a:ext cx="29594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Highest fee burden → COD</a:t>
            </a:r>
            <a:endParaRPr lang="en-US" dirty="0"/>
          </a:p>
          <a:p>
            <a:r>
              <a:rPr lang="en-US" b="1" dirty="0"/>
              <a:t>Lowest fee rate → UPI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28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0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87C13-7A37-0D2E-CADD-644F18F2A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510" y="223601"/>
            <a:ext cx="10611627" cy="676578"/>
          </a:xfrm>
        </p:spPr>
        <p:txBody>
          <a:bodyPr>
            <a:normAutofit fontScale="90000"/>
          </a:bodyPr>
          <a:lstStyle/>
          <a:p>
            <a:r>
              <a:rPr lang="en-US" dirty="0"/>
              <a:t>Revenue Leakage Breakdown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92BEDA-DFE5-F0C0-5C40-ACBBCE595064}"/>
              </a:ext>
            </a:extLst>
          </p:cNvPr>
          <p:cNvSpPr txBox="1"/>
          <p:nvPr/>
        </p:nvSpPr>
        <p:spPr>
          <a:xfrm>
            <a:off x="691078" y="882271"/>
            <a:ext cx="9653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Commercial and operational costs affect profitability through four major leakage channels.</a:t>
            </a:r>
            <a:endParaRPr lang="en-US" dirty="0"/>
          </a:p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9B8E32-637A-8994-861C-9633C4752974}"/>
              </a:ext>
            </a:extLst>
          </p:cNvPr>
          <p:cNvSpPr txBox="1"/>
          <p:nvPr/>
        </p:nvSpPr>
        <p:spPr>
          <a:xfrm>
            <a:off x="647510" y="1614770"/>
            <a:ext cx="18608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DISCOUNTS</a:t>
            </a:r>
            <a:br>
              <a:rPr lang="en-US" sz="1600" dirty="0"/>
            </a:br>
            <a:r>
              <a:rPr lang="en-US" sz="1600" b="1" dirty="0"/>
              <a:t>₹4.57M</a:t>
            </a:r>
            <a:br>
              <a:rPr lang="en-US" sz="1600" dirty="0"/>
            </a:br>
            <a:r>
              <a:rPr lang="en-US" sz="1600" dirty="0"/>
              <a:t>Largest measured leakage component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6FC937-6B2A-0085-13F8-EEAD5938FCB2}"/>
              </a:ext>
            </a:extLst>
          </p:cNvPr>
          <p:cNvSpPr txBox="1"/>
          <p:nvPr/>
        </p:nvSpPr>
        <p:spPr>
          <a:xfrm>
            <a:off x="3006911" y="1605357"/>
            <a:ext cx="18021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RETURNS</a:t>
            </a:r>
            <a:br>
              <a:rPr lang="en-US" sz="1600" dirty="0"/>
            </a:br>
            <a:r>
              <a:rPr lang="en-US" sz="1600" b="1" dirty="0"/>
              <a:t>₹2.95M</a:t>
            </a:r>
            <a:br>
              <a:rPr lang="en-US" sz="1600" dirty="0"/>
            </a:br>
            <a:r>
              <a:rPr lang="en-US" sz="1600" dirty="0"/>
              <a:t>Second-largest measured leakage component</a:t>
            </a:r>
          </a:p>
          <a:p>
            <a:endParaRPr lang="en-US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73035B-D6CD-D968-82F8-014DD76A6D39}"/>
              </a:ext>
            </a:extLst>
          </p:cNvPr>
          <p:cNvSpPr txBox="1"/>
          <p:nvPr/>
        </p:nvSpPr>
        <p:spPr>
          <a:xfrm>
            <a:off x="5076495" y="1599494"/>
            <a:ext cx="21549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PAYMENT FEES</a:t>
            </a:r>
            <a:br>
              <a:rPr lang="en-US" sz="1600" dirty="0"/>
            </a:br>
            <a:r>
              <a:rPr lang="en-US" sz="1600" b="1" dirty="0"/>
              <a:t>₹1.10M</a:t>
            </a:r>
            <a:br>
              <a:rPr lang="en-US" sz="1600" dirty="0"/>
            </a:br>
            <a:r>
              <a:rPr lang="en-US" sz="1600" dirty="0"/>
              <a:t>COD carries the highest fee burden</a:t>
            </a:r>
          </a:p>
          <a:p>
            <a:endParaRPr lang="en-US" sz="16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DE514D-1DFA-4705-DF47-F30775A5A015}"/>
              </a:ext>
            </a:extLst>
          </p:cNvPr>
          <p:cNvSpPr txBox="1"/>
          <p:nvPr/>
        </p:nvSpPr>
        <p:spPr>
          <a:xfrm>
            <a:off x="7552314" y="1509808"/>
            <a:ext cx="21376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LOGISTICS</a:t>
            </a:r>
            <a:br>
              <a:rPr lang="en-US" sz="1600" dirty="0"/>
            </a:br>
            <a:r>
              <a:rPr lang="en-US" sz="1600" b="1" dirty="0"/>
              <a:t>₹0.95M</a:t>
            </a:r>
            <a:br>
              <a:rPr lang="en-US" sz="1600" dirty="0"/>
            </a:br>
            <a:r>
              <a:rPr lang="en-US" sz="1600" dirty="0"/>
              <a:t>High-cost orders require investigation</a:t>
            </a:r>
          </a:p>
          <a:p>
            <a:endParaRPr lang="en-US" sz="16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9AEE36-34A9-15A5-B8A2-FD38F9193EA1}"/>
              </a:ext>
            </a:extLst>
          </p:cNvPr>
          <p:cNvSpPr txBox="1"/>
          <p:nvPr/>
        </p:nvSpPr>
        <p:spPr>
          <a:xfrm>
            <a:off x="368444" y="3310153"/>
            <a:ext cx="1143227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Leakage Diagnosis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Discounts and returns dominate the measured leakage profile, making commercial effectiveness and return management key areas for further investigation.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Payment and logistics costs are individually smaller but remain recurring operational pressures on retained profitability.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Leakage should not be treated as a single additive KPI without qualification, because the underlying SQL measures use different business definitions.</a:t>
            </a:r>
          </a:p>
          <a:p>
            <a:endParaRPr lang="en-US" sz="16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26FA22-AD9A-7791-29E5-09EA6689EBD3}"/>
              </a:ext>
            </a:extLst>
          </p:cNvPr>
          <p:cNvSpPr txBox="1"/>
          <p:nvPr/>
        </p:nvSpPr>
        <p:spPr>
          <a:xfrm>
            <a:off x="324426" y="5479849"/>
            <a:ext cx="11348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Executive Takeaway:</a:t>
            </a:r>
            <a:r>
              <a:rPr lang="en-US" sz="1600" dirty="0"/>
              <a:t> Strong gross product profitability does not automatically translate into equally strong retained profitability. Management attention should shift from topline performance alone toward the mechanisms through which value is being eroded.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0811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B0CFF1-78D7-4A83-A95E-71F9E3831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74A58D-C788-4F75-B5D1-921E78FF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7BC05A-659D-4294-B1DB-0412C6A1E3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A8233F-A451-46B4-BED4-27DD64582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8A4F6C4-FDB0-4115-ABAE-9A5A8CED0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1C99737-F794-494E-8C0C-76B75CC9D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8F02DA6-DBA7-462E-82AD-42EEDC280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DE71D6B-949D-4D9E-9EEA-56A8D498A5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EFD95D-F204-41B7-9C56-DBF1155EC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53D25B4-D3D4-4B6C-A740-E8FD4409B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FB8D2F-FC2D-463E-A588-218B5ED1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21BB6B9-EAEA-43A1-9449-A10294E4F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0C62509-6F9A-4A66-AE78-EF71FE7D4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F0D677E-8866-4D5C-91F9-90001EBE87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C1C222-FB70-4063-9BF6-25E539454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48C3B78-3424-4DF2-AE25-BC08956E2B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89169EC-7A8F-439B-BDD2-669CDE6D9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625A96E-5FA1-467F-8929-E9F3A4D423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4167E38-35D8-4680-8EF9-67045C8AA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9E9F9CA-B0D2-4D5B-BA3E-D9F5817A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1909765-556E-4AA4-8CA8-34ABA30EB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9E7D9C-D2A0-4C04-AC8C-CC796A575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13C351-6AD8-4CC8-85E6-1382AA235C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190FC97-7BCE-42C2-9768-14559A44A0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32B857D-BE14-48CD-8F4D-0E882D328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F2E92CD-7175-484E-B557-CF29951C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B179EA7-0CFA-4FE9-BEF1-462C0ED39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66676B7-1322-4E27-9218-6D5E8B0EC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026F347-76EB-45F8-9B81-653E64A00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1E93AAC-F0A9-4B35-A413-A322DB9F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145F376-7C0E-4F7E-816B-48D485A8C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5F4E9A3-2521-4838-9AA2-A5D5020D46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D0F8335-C6C7-4994-9ECB-54F0EB8C5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7D11638-D7E0-4D85-B1A6-AF57358C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89" y="15123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140789-E18D-9388-A59E-DCDF73BF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3" y="79024"/>
            <a:ext cx="10611627" cy="62821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Customer &amp; Data Quality 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724A05-C244-BE8F-141C-47CDF1533C5A}"/>
              </a:ext>
            </a:extLst>
          </p:cNvPr>
          <p:cNvSpPr txBox="1"/>
          <p:nvPr/>
        </p:nvSpPr>
        <p:spPr>
          <a:xfrm>
            <a:off x="876753" y="1264834"/>
            <a:ext cx="332655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High-Risk Customers</a:t>
            </a:r>
          </a:p>
          <a:p>
            <a:r>
              <a:rPr lang="en-US" sz="1600" b="1" dirty="0"/>
              <a:t>5.86%</a:t>
            </a:r>
            <a:br>
              <a:rPr lang="en-US" sz="1600" dirty="0"/>
            </a:br>
            <a:r>
              <a:rPr lang="en-US" sz="1600" b="1" dirty="0"/>
              <a:t>Marketplace Average Return Rate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61CA2-65DF-8FDB-5409-54A61181328F}"/>
              </a:ext>
            </a:extLst>
          </p:cNvPr>
          <p:cNvSpPr txBox="1"/>
          <p:nvPr/>
        </p:nvSpPr>
        <p:spPr>
          <a:xfrm>
            <a:off x="876753" y="2488101"/>
            <a:ext cx="355977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Customers with return rates above the marketplace average were classified as high-risk.</a:t>
            </a:r>
          </a:p>
          <a:p>
            <a:endParaRPr lang="en-US" sz="1600" dirty="0"/>
          </a:p>
          <a:p>
            <a:r>
              <a:rPr lang="en-US" sz="1600" dirty="0"/>
              <a:t>Several customers recorded </a:t>
            </a:r>
            <a:r>
              <a:rPr lang="en-US" sz="1600" b="1" dirty="0"/>
              <a:t>100% return rates</a:t>
            </a:r>
            <a:r>
              <a:rPr lang="en-US" sz="1600" dirty="0"/>
              <a:t>, indicating accounts that warrant further investigation.</a:t>
            </a:r>
          </a:p>
          <a:p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EBDC5-3DF2-BB2D-8170-437361DE2FB5}"/>
              </a:ext>
            </a:extLst>
          </p:cNvPr>
          <p:cNvSpPr txBox="1"/>
          <p:nvPr/>
        </p:nvSpPr>
        <p:spPr>
          <a:xfrm>
            <a:off x="4900713" y="1242540"/>
            <a:ext cx="25715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Payment Data Quality</a:t>
            </a:r>
          </a:p>
          <a:p>
            <a:r>
              <a:rPr lang="en-US" sz="1600" b="1" dirty="0"/>
              <a:t>4,471 orders</a:t>
            </a:r>
            <a:br>
              <a:rPr lang="en-US" sz="1600" dirty="0"/>
            </a:br>
            <a:r>
              <a:rPr lang="en-US" sz="1600" b="1" dirty="0"/>
              <a:t>INVALID Payment Method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8007AF-4E87-1E67-D7A7-C661B29F9DDE}"/>
              </a:ext>
            </a:extLst>
          </p:cNvPr>
          <p:cNvSpPr txBox="1"/>
          <p:nvPr/>
        </p:nvSpPr>
        <p:spPr>
          <a:xfrm>
            <a:off x="4831326" y="2514951"/>
            <a:ext cx="338698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INVALID is the largest recorded payment-method category by order count, indicating a significant payment-data classification issue.</a:t>
            </a:r>
          </a:p>
          <a:p>
            <a:endParaRPr lang="en-US" sz="1600" dirty="0"/>
          </a:p>
          <a:p>
            <a:r>
              <a:rPr lang="en-US" sz="1400" dirty="0"/>
              <a:t>Poor payment classification can distort channel-level analysis and reduce confidence in payment-cost decisions.</a:t>
            </a:r>
          </a:p>
          <a:p>
            <a:endParaRPr lang="en-US" sz="1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4B19BE-C0B3-CB42-8667-D3ED64618D97}"/>
              </a:ext>
            </a:extLst>
          </p:cNvPr>
          <p:cNvSpPr txBox="1"/>
          <p:nvPr/>
        </p:nvSpPr>
        <p:spPr>
          <a:xfrm>
            <a:off x="8565491" y="1233693"/>
            <a:ext cx="247054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Return Data Quality</a:t>
            </a:r>
          </a:p>
          <a:p>
            <a:r>
              <a:rPr lang="en-US" sz="1600" b="1" dirty="0"/>
              <a:t>242 returns</a:t>
            </a:r>
            <a:br>
              <a:rPr lang="en-US" sz="1600" dirty="0"/>
            </a:br>
            <a:r>
              <a:rPr lang="en-US" sz="1600" b="1" dirty="0"/>
              <a:t>Unknown Return Reason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A72729-CE13-66C3-48E8-9467E113F134}"/>
              </a:ext>
            </a:extLst>
          </p:cNvPr>
          <p:cNvSpPr txBox="1"/>
          <p:nvPr/>
        </p:nvSpPr>
        <p:spPr>
          <a:xfrm>
            <a:off x="8565491" y="2486549"/>
            <a:ext cx="343398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Unknown is the largest return-reason group and is associated with approximately </a:t>
            </a:r>
            <a:r>
              <a:rPr lang="en-US" sz="1600" b="1" dirty="0"/>
              <a:t>₹714.7K in lost revenue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400" dirty="0"/>
              <a:t>Missing return-reason information limits root-cause analysis and makes targeted corrective action more difficult.</a:t>
            </a:r>
          </a:p>
          <a:p>
            <a:endParaRPr lang="en-US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E11FAB-1C4B-6F07-9972-EBC043646112}"/>
              </a:ext>
            </a:extLst>
          </p:cNvPr>
          <p:cNvSpPr txBox="1"/>
          <p:nvPr/>
        </p:nvSpPr>
        <p:spPr>
          <a:xfrm>
            <a:off x="683588" y="5282413"/>
            <a:ext cx="115416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Why This Matters</a:t>
            </a:r>
          </a:p>
          <a:p>
            <a:endParaRPr lang="en-US" sz="1600" dirty="0"/>
          </a:p>
          <a:p>
            <a:r>
              <a:rPr lang="en-US" sz="1600" b="1" dirty="0"/>
              <a:t>Reliable business decisions require reliable data.</a:t>
            </a:r>
            <a:r>
              <a:rPr lang="en-US" sz="1600" dirty="0"/>
              <a:t> Customer-risk indicators may identify </a:t>
            </a:r>
            <a:r>
              <a:rPr lang="en-US" sz="1600" dirty="0" err="1"/>
              <a:t>behavioural</a:t>
            </a:r>
            <a:r>
              <a:rPr lang="en-US" sz="1600" dirty="0"/>
              <a:t> or operational issues, but incomplete payment and return classifications reduce the precision of profitability and root-cause analysis.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319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A46A1C-1212-96DB-240B-8636C0E04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559" y="326386"/>
            <a:ext cx="5818396" cy="520166"/>
          </a:xfrm>
        </p:spPr>
        <p:txBody>
          <a:bodyPr>
            <a:normAutofit/>
          </a:bodyPr>
          <a:lstStyle/>
          <a:p>
            <a:r>
              <a:rPr lang="en-US" sz="2800"/>
              <a:t>Management Recommendations</a:t>
            </a:r>
            <a:endParaRPr lang="en-US" sz="2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92574A-BC97-5E94-08E2-FCCA3CBCC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254305"/>
              </p:ext>
            </p:extLst>
          </p:nvPr>
        </p:nvGraphicFramePr>
        <p:xfrm>
          <a:off x="959379" y="1380177"/>
          <a:ext cx="10841345" cy="3418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9421">
                  <a:extLst>
                    <a:ext uri="{9D8B030D-6E8A-4147-A177-3AD203B41FA5}">
                      <a16:colId xmlns:a16="http://schemas.microsoft.com/office/drawing/2014/main" val="2554722751"/>
                    </a:ext>
                  </a:extLst>
                </a:gridCol>
                <a:gridCol w="2855684">
                  <a:extLst>
                    <a:ext uri="{9D8B030D-6E8A-4147-A177-3AD203B41FA5}">
                      <a16:colId xmlns:a16="http://schemas.microsoft.com/office/drawing/2014/main" val="33036054"/>
                    </a:ext>
                  </a:extLst>
                </a:gridCol>
                <a:gridCol w="7116240">
                  <a:extLst>
                    <a:ext uri="{9D8B030D-6E8A-4147-A177-3AD203B41FA5}">
                      <a16:colId xmlns:a16="http://schemas.microsoft.com/office/drawing/2014/main" val="2355882009"/>
                    </a:ext>
                  </a:extLst>
                </a:gridCol>
              </a:tblGrid>
              <a:tr h="337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Priority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Recommendation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Action</a:t>
                      </a:r>
                    </a:p>
                  </a:txBody>
                  <a:tcPr marL="48161" marR="48161" marT="24081" marB="24081" anchor="ctr"/>
                </a:tc>
                <a:extLst>
                  <a:ext uri="{0D108BD9-81ED-4DB2-BD59-A6C34878D82A}">
                    <a16:rowId xmlns:a16="http://schemas.microsoft.com/office/drawing/2014/main" val="1315235848"/>
                  </a:ext>
                </a:extLst>
              </a:tr>
              <a:tr h="704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01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Optimise Discount Strategy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Evaluate promotions using post-discount profitability, not sales uplift alone. Investigate the ₹1.52M of discounts with unspecified promotion types.</a:t>
                      </a:r>
                    </a:p>
                  </a:txBody>
                  <a:tcPr marL="48161" marR="48161" marT="24081" marB="24081" anchor="ctr"/>
                </a:tc>
                <a:extLst>
                  <a:ext uri="{0D108BD9-81ED-4DB2-BD59-A6C34878D82A}">
                    <a16:rowId xmlns:a16="http://schemas.microsoft.com/office/drawing/2014/main" val="359308239"/>
                  </a:ext>
                </a:extLst>
              </a:tr>
              <a:tr h="704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02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Reduce Return-Related Losses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Improve return-reason capture and investigate the major drivers of returned orders before implementing targeted interventions.</a:t>
                      </a:r>
                    </a:p>
                  </a:txBody>
                  <a:tcPr marL="48161" marR="48161" marT="24081" marB="24081" anchor="ctr"/>
                </a:tc>
                <a:extLst>
                  <a:ext uri="{0D108BD9-81ED-4DB2-BD59-A6C34878D82A}">
                    <a16:rowId xmlns:a16="http://schemas.microsoft.com/office/drawing/2014/main" val="3913846353"/>
                  </a:ext>
                </a:extLst>
              </a:tr>
              <a:tr h="836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03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Control Fulfilment &amp; Payment Costs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Review orders with unusually high logistics-to-order-value ratios and assess the commercial impact of high-cost payment methods, particularly COD.</a:t>
                      </a:r>
                    </a:p>
                  </a:txBody>
                  <a:tcPr marL="48161" marR="48161" marT="24081" marB="24081" anchor="ctr"/>
                </a:tc>
                <a:extLst>
                  <a:ext uri="{0D108BD9-81ED-4DB2-BD59-A6C34878D82A}">
                    <a16:rowId xmlns:a16="http://schemas.microsoft.com/office/drawing/2014/main" val="2111726152"/>
                  </a:ext>
                </a:extLst>
              </a:tr>
              <a:tr h="836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04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Strengthen Profitability Monitoring</a:t>
                      </a:r>
                    </a:p>
                  </a:txBody>
                  <a:tcPr marL="48161" marR="48161" marT="24081" marB="240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Track product-level profitability, persistent loss-makers, customer return behaviour and data-quality exceptions through recurring management reporting.</a:t>
                      </a:r>
                    </a:p>
                  </a:txBody>
                  <a:tcPr marL="48161" marR="48161" marT="24081" marB="24081" anchor="ctr"/>
                </a:tc>
                <a:extLst>
                  <a:ext uri="{0D108BD9-81ED-4DB2-BD59-A6C34878D82A}">
                    <a16:rowId xmlns:a16="http://schemas.microsoft.com/office/drawing/2014/main" val="278988058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BA4B331-E97B-F528-B8B2-C1244132447A}"/>
              </a:ext>
            </a:extLst>
          </p:cNvPr>
          <p:cNvSpPr txBox="1"/>
          <p:nvPr/>
        </p:nvSpPr>
        <p:spPr>
          <a:xfrm>
            <a:off x="790223" y="5352103"/>
            <a:ext cx="112030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Management Focus:</a:t>
            </a:r>
            <a:r>
              <a:rPr lang="en-US" sz="1600"/>
              <a:t> Protecting profitability requires coordinated action across pricing, promotions, returns, fulfilment, payment costs and data quality—not simply increasing sales.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97375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6AA78B-399A-35A2-3487-65646867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74" y="27012"/>
            <a:ext cx="5818396" cy="859301"/>
          </a:xfrm>
        </p:spPr>
        <p:txBody>
          <a:bodyPr>
            <a:normAutofit/>
          </a:bodyPr>
          <a:lstStyle/>
          <a:p>
            <a:r>
              <a:rPr lang="en-US" sz="2800" dirty="0"/>
              <a:t>Conclusion &amp; Business 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1DF5D-B151-E790-9E63-C3CC47E561FD}"/>
              </a:ext>
            </a:extLst>
          </p:cNvPr>
          <p:cNvSpPr txBox="1"/>
          <p:nvPr/>
        </p:nvSpPr>
        <p:spPr>
          <a:xfrm>
            <a:off x="876753" y="913325"/>
            <a:ext cx="93246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analysis shows that strong marketplace sales and gross product profitability can coexist with meaningful commercial and operational pressures on retained profitability.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8E257-622D-5444-0DBC-3D9CB46ADBDD}"/>
              </a:ext>
            </a:extLst>
          </p:cNvPr>
          <p:cNvSpPr txBox="1"/>
          <p:nvPr/>
        </p:nvSpPr>
        <p:spPr>
          <a:xfrm>
            <a:off x="626976" y="2023154"/>
            <a:ext cx="366280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PROFITABILITY</a:t>
            </a:r>
          </a:p>
          <a:p>
            <a:br>
              <a:rPr lang="en-US" sz="1600" dirty="0"/>
            </a:br>
            <a:r>
              <a:rPr lang="en-US" sz="1600" b="1" dirty="0"/>
              <a:t>₹62.83M Sales | ₹32.51M Gross Profit</a:t>
            </a:r>
          </a:p>
          <a:p>
            <a:endParaRPr lang="en-US" sz="1600" b="1" dirty="0"/>
          </a:p>
          <a:p>
            <a:r>
              <a:rPr lang="en-US" sz="1600" dirty="0"/>
              <a:t>The marketplace is profitable at the product level, but aggregate performance masks </a:t>
            </a:r>
            <a:r>
              <a:rPr lang="en-US" sz="1600" b="1" dirty="0"/>
              <a:t>71 loss-making products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02CD37-D197-8B35-97B6-BD304EDAE51A}"/>
              </a:ext>
            </a:extLst>
          </p:cNvPr>
          <p:cNvSpPr txBox="1"/>
          <p:nvPr/>
        </p:nvSpPr>
        <p:spPr>
          <a:xfrm>
            <a:off x="4569112" y="2007407"/>
            <a:ext cx="34709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PROFIT EROSION</a:t>
            </a:r>
          </a:p>
          <a:p>
            <a:endParaRPr lang="en-US" sz="1600" dirty="0"/>
          </a:p>
          <a:p>
            <a:r>
              <a:rPr lang="en-US" sz="1600" dirty="0"/>
              <a:t>Discounts and returns represent the largest measured leakage components, while logistics and payment fees create additional recurring cost pressure.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FE5489-AC08-E040-C820-296491EDA9BF}"/>
              </a:ext>
            </a:extLst>
          </p:cNvPr>
          <p:cNvSpPr txBox="1"/>
          <p:nvPr/>
        </p:nvSpPr>
        <p:spPr>
          <a:xfrm>
            <a:off x="8040020" y="1976342"/>
            <a:ext cx="36101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CONTROL &amp; DATA QUALITY</a:t>
            </a:r>
          </a:p>
          <a:p>
            <a:endParaRPr lang="en-US" sz="1600" dirty="0"/>
          </a:p>
          <a:p>
            <a:r>
              <a:rPr lang="en-US" sz="1600" dirty="0"/>
              <a:t>Unclassified discounts, INVALID payment methods and Unknown return reasons reduce analytical visibility and limit effective root-cause investigation.</a:t>
            </a:r>
          </a:p>
          <a:p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9630F8-CC4B-D96C-B63C-FA7C8161AC52}"/>
              </a:ext>
            </a:extLst>
          </p:cNvPr>
          <p:cNvSpPr txBox="1"/>
          <p:nvPr/>
        </p:nvSpPr>
        <p:spPr>
          <a:xfrm>
            <a:off x="508883" y="4514759"/>
            <a:ext cx="115806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Final Takeaway:</a:t>
            </a:r>
            <a:r>
              <a:rPr lang="en-US" sz="1600" dirty="0"/>
              <a:t> Sustainable profitability requires management to look beyond revenue growth and systematically monitor product economics, promotional effectiveness, returns, fulfilment costs, payment costs and data quality.</a:t>
            </a:r>
          </a:p>
          <a:p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EFEAD-C919-BD26-2BFD-8B1A48E3BBED}"/>
              </a:ext>
            </a:extLst>
          </p:cNvPr>
          <p:cNvSpPr txBox="1"/>
          <p:nvPr/>
        </p:nvSpPr>
        <p:spPr>
          <a:xfrm>
            <a:off x="565140" y="5376533"/>
            <a:ext cx="9365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SQL transformed transactional marketplace data into actionable profitability insights and management priorities.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8256635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1629</Words>
  <Application>Microsoft Macintosh PowerPoint</Application>
  <PresentationFormat>Widescreen</PresentationFormat>
  <Paragraphs>245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Grandview</vt:lpstr>
      <vt:lpstr>Wingdings</vt:lpstr>
      <vt:lpstr>CosineVTI</vt:lpstr>
      <vt:lpstr>Marketplace Revenue Leakage &amp; Profitability Analysis</vt:lpstr>
      <vt:lpstr>Business Problem &amp; Objectives</vt:lpstr>
      <vt:lpstr>Data Model &amp; Relational Structure  </vt:lpstr>
      <vt:lpstr>Executive Profitability Snapshot  </vt:lpstr>
      <vt:lpstr>Category Performance</vt:lpstr>
      <vt:lpstr>Discount Usage &amp; Effectiveness</vt:lpstr>
      <vt:lpstr>Product Profitability &amp; Loss Risk</vt:lpstr>
      <vt:lpstr>Returns &amp; Financial Impact</vt:lpstr>
      <vt:lpstr>Logistics &amp; Payment Cost Burden</vt:lpstr>
      <vt:lpstr>Revenue Leakage Breakdown</vt:lpstr>
      <vt:lpstr>Customer &amp; Data Quality Risks</vt:lpstr>
      <vt:lpstr>Management Recommendations</vt:lpstr>
      <vt:lpstr>Conclusion &amp; Business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Girishbabu, Vishnu N</dc:creator>
  <cp:lastModifiedBy>Girishbabu, Vishnu N</cp:lastModifiedBy>
  <cp:revision>27</cp:revision>
  <dcterms:created xsi:type="dcterms:W3CDTF">2026-07-19T18:11:59Z</dcterms:created>
  <dcterms:modified xsi:type="dcterms:W3CDTF">2026-10-13T13:55:36Z</dcterms:modified>
</cp:coreProperties>
</file>